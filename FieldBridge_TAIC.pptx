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6400" y="165100"/>
            <a:ext cx="2540000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Noto Sans KR"/>
              </a:rPr>
              <a:t>2026.07.08.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18500" y="139700"/>
            <a:ext cx="419100" cy="165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 b="0" i="0">
                <a:solidFill>
                  <a:srgbClr val="555555"/>
                </a:solidFill>
                <a:latin typeface="Noto Sans KR"/>
              </a:rPr>
              <a:t>×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330200"/>
            <a:ext cx="8331200" cy="63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419100"/>
            <a:ext cx="5588000" cy="584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200" b="1" i="0">
                <a:solidFill>
                  <a:srgbClr val="111111"/>
                </a:solidFill>
                <a:latin typeface="Noto Sans KR"/>
              </a:rPr>
              <a:t>FieldBridge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42000" y="546100"/>
            <a:ext cx="2895600" cy="165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111111"/>
                </a:solidFill>
                <a:latin typeface="Noto Sans KR"/>
              </a:rPr>
              <a:t>박수정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2000" y="685800"/>
            <a:ext cx="2895600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55555"/>
                </a:solidFill>
                <a:latin typeface="Noto Sans KR"/>
              </a:rPr>
              <a:t>건축공방 · 건축 설계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6400" y="1041400"/>
            <a:ext cx="6985000" cy="165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33333"/>
                </a:solidFill>
                <a:latin typeface="Noto Sans KR"/>
              </a:rPr>
              <a:t>건설산업 디지털 전환 — 첫 번째 데이터 레이어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206500"/>
            <a:ext cx="7620000" cy="139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88"/>
                </a:solidFill>
                <a:latin typeface="Noto Sans KR"/>
              </a:rPr>
              <a:t>GDP 20~25% · 맥킨지 22개 산업 디지털화 최하위 · AR · AI · 로보틱스 · 블록체인</a:t>
            </a:r>
          </a:p>
        </p:txBody>
      </p:sp>
      <p:pic>
        <p:nvPicPr>
          <p:cNvPr id="10" name="Picture 9" descr="img_geomd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" y="1371600"/>
            <a:ext cx="2032000" cy="35179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06400" y="4699000"/>
            <a:ext cx="2032000" cy="190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4500" y="4711700"/>
            <a:ext cx="1955800" cy="165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Noto Sans KR"/>
              </a:rPr>
              <a:t>인천 검단 박물관·도서관</a:t>
            </a:r>
          </a:p>
        </p:txBody>
      </p:sp>
      <p:pic>
        <p:nvPicPr>
          <p:cNvPr id="13" name="Picture 12" descr="img_hangan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1900" y="1371600"/>
            <a:ext cx="2032000" cy="35179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2501900" y="4699000"/>
            <a:ext cx="2032000" cy="190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40000" y="4711700"/>
            <a:ext cx="1955800" cy="165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Noto Sans KR"/>
              </a:rPr>
              <a:t>한강덮개공원</a:t>
            </a:r>
          </a:p>
        </p:txBody>
      </p:sp>
      <p:pic>
        <p:nvPicPr>
          <p:cNvPr id="16" name="Picture 15" descr="img_gwangjang_new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7400" y="1371600"/>
            <a:ext cx="2032000" cy="351790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4597400" y="4699000"/>
            <a:ext cx="2032000" cy="190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5500" y="4711700"/>
            <a:ext cx="1955800" cy="165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Noto Sans KR"/>
              </a:rPr>
              <a:t>광장동 복합체육시설</a:t>
            </a:r>
          </a:p>
        </p:txBody>
      </p:sp>
      <p:pic>
        <p:nvPicPr>
          <p:cNvPr id="19" name="Picture 18" descr="img_project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2900" y="1371600"/>
            <a:ext cx="2032000" cy="351790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6692900" y="4699000"/>
            <a:ext cx="2032000" cy="190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1000" y="4711700"/>
            <a:ext cx="1955800" cy="165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Noto Sans KR"/>
              </a:rPr>
              <a:t>광주비엔날레 전시관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40600" y="4889500"/>
            <a:ext cx="1397000" cy="1905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53300" y="4902200"/>
            <a:ext cx="1384300" cy="165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oto Sans KR"/>
              </a:rPr>
              <a:t>TAIC 15주차  산학협력 제안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6400" y="165100"/>
            <a:ext cx="1905000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Noto Sans KR"/>
              </a:rPr>
              <a:t>2026.07.08.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18500" y="139700"/>
            <a:ext cx="419100" cy="165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 b="0" i="0">
                <a:solidFill>
                  <a:srgbClr val="555555"/>
                </a:solidFill>
                <a:latin typeface="Noto Sans KR"/>
              </a:rPr>
              <a:t>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6400" y="317500"/>
            <a:ext cx="381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11111"/>
                </a:solidFill>
                <a:latin typeface="Noto Sans K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342900"/>
            <a:ext cx="730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Noto Sans KR"/>
              </a:rPr>
              <a:t>문제: 세 겹의 구조적 붕괴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533400"/>
            <a:ext cx="1841500" cy="25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47900" y="546100"/>
            <a:ext cx="6489700" cy="635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06400" y="723900"/>
            <a:ext cx="25400" cy="3937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6100" y="723900"/>
            <a:ext cx="4419600" cy="393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444444"/>
                </a:solidFill>
                <a:latin typeface="Noto Sans KR"/>
              </a:rPr>
              <a:t>"GDP의 25%를 움직이는 산업이, 맥킨지 22개 산업 디지털화 지수에서 최하위다. 이것은 위기가 아니라 </a:t>
            </a:r>
            <a:r>
              <a:rPr sz="1100" b="1" i="1">
                <a:solidFill>
                  <a:srgbClr val="111111"/>
                </a:solidFill>
                <a:latin typeface="Noto Sans KR"/>
              </a:rPr>
              <a:t>가장 큰 혁신 공백</a:t>
            </a:r>
            <a:r>
              <a:rPr sz="1100" b="0" i="1">
                <a:solidFill>
                  <a:srgbClr val="444444"/>
                </a:solidFill>
                <a:latin typeface="Noto Sans KR"/>
              </a:rPr>
              <a:t>이다."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400" y="1104900"/>
            <a:ext cx="419100" cy="495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EBEBEB"/>
                </a:solidFill>
                <a:latin typeface="Noto Sans KR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900" y="1168400"/>
            <a:ext cx="4127500" cy="139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Noto Sans KR"/>
              </a:rPr>
              <a:t>설계는 진화, 현장은 30년째 정체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900" y="1320800"/>
            <a:ext cx="4127500" cy="444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Noto Sans KR"/>
              </a:rPr>
              <a:t>BIM·생성형AI로 설계가 mm 단위로 정밀해질수록 현장과의 간극은 더 벌어진다. 맥킨지 22개 산업 중 건설 최하위권 — 디지털 전환 체감 0%.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6400" y="2089150"/>
            <a:ext cx="419100" cy="495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EBEBEB"/>
                </a:solidFill>
                <a:latin typeface="Noto Sans KR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900" y="2152650"/>
            <a:ext cx="4127500" cy="139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Noto Sans KR"/>
              </a:rPr>
              <a:t>현장 인력 구조의 이중 위기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900" y="2305050"/>
            <a:ext cx="4127500" cy="444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Noto Sans KR"/>
              </a:rPr>
              <a:t>기능인력 평균 54세 → 숙련 절벽 / 외국인 비중 25~30% → 언어 장벽. 반도체 불량은 교체하면 되지만, 시공 불량은 그 안에서 사는 사람들의 30년에 남는다.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6400" y="3073400"/>
            <a:ext cx="419100" cy="495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EBEBEB"/>
                </a:solidFill>
                <a:latin typeface="Noto Sans KR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900" y="3136900"/>
            <a:ext cx="4127500" cy="139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Noto Sans KR"/>
              </a:rPr>
              <a:t>공공건물 품질 붕괴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900" y="3289300"/>
            <a:ext cx="4127500" cy="444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Noto Sans KR"/>
              </a:rPr>
              <a:t>공공설계 당선작이 발주·시공에서 의도가 훼손된다. GDP 20~25%를 움직이는 산업의 품질이 곧 시민의 삶의 질이다.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30800" y="723900"/>
            <a:ext cx="6350" cy="4064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245100" y="723900"/>
            <a:ext cx="3492500" cy="8128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8600" y="787400"/>
            <a:ext cx="3365500" cy="88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999999"/>
                </a:solidFill>
                <a:latin typeface="Noto Sans KR"/>
              </a:rPr>
              <a:t>건물 수명 비교 — 자산 vs 소비재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8600" y="927100"/>
            <a:ext cx="317500" cy="1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44444"/>
                </a:solidFill>
                <a:latin typeface="Noto Sans KR"/>
              </a:rPr>
              <a:t>유럽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51500" y="927100"/>
            <a:ext cx="3022600" cy="1079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76900" y="939800"/>
            <a:ext cx="508000" cy="88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Noto Sans KR"/>
              </a:rPr>
              <a:t>100년+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8600" y="1073150"/>
            <a:ext cx="317500" cy="1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44444"/>
                </a:solidFill>
                <a:latin typeface="Noto Sans KR"/>
              </a:rPr>
              <a:t>한국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51500" y="1073150"/>
            <a:ext cx="901700" cy="107950"/>
          </a:xfrm>
          <a:prstGeom prst="rect">
            <a:avLst/>
          </a:prstGeom>
          <a:solidFill>
            <a:srgbClr val="BBBB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4950" y="1085850"/>
            <a:ext cx="317500" cy="82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Noto Sans KR"/>
              </a:rPr>
              <a:t>~30년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8600" y="1339850"/>
            <a:ext cx="3365500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AAAAAA"/>
                </a:solidFill>
                <a:latin typeface="Noto Sans KR"/>
              </a:rPr>
              <a:t>수명 차이 = 내구성 아닌 설계의도 전달 여부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245100" y="1612900"/>
            <a:ext cx="3492500" cy="9652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08600" y="1676400"/>
            <a:ext cx="3365500" cy="88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999999"/>
                </a:solidFill>
                <a:latin typeface="Noto Sans KR"/>
              </a:rPr>
              <a:t>산업별 디지털화 지수 (McKinsey, 22개 산업)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8600" y="1816100"/>
            <a:ext cx="393700" cy="88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  <a:latin typeface="Noto Sans KR"/>
              </a:rPr>
              <a:t>ICT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727700" y="1822450"/>
            <a:ext cx="2857500" cy="82550"/>
          </a:xfrm>
          <a:prstGeom prst="rect">
            <a:avLst/>
          </a:prstGeom>
          <a:solidFill>
            <a:srgbClr val="EFE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727700" y="1822450"/>
            <a:ext cx="2857500" cy="825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16950" y="1816100"/>
            <a:ext cx="228600" cy="88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  <a:latin typeface="Noto Sans KR"/>
              </a:rPr>
              <a:t>100%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08600" y="1955800"/>
            <a:ext cx="393700" cy="88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  <a:latin typeface="Noto Sans KR"/>
              </a:rPr>
              <a:t>금융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27700" y="1962150"/>
            <a:ext cx="2857500" cy="82550"/>
          </a:xfrm>
          <a:prstGeom prst="rect">
            <a:avLst/>
          </a:prstGeom>
          <a:solidFill>
            <a:srgbClr val="EFE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727700" y="1962150"/>
            <a:ext cx="2082800" cy="8255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16950" y="1955800"/>
            <a:ext cx="228600" cy="88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  <a:latin typeface="Noto Sans KR"/>
              </a:rPr>
              <a:t>73%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08600" y="2095500"/>
            <a:ext cx="393700" cy="88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  <a:latin typeface="Noto Sans KR"/>
              </a:rPr>
              <a:t>제조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727700" y="2101850"/>
            <a:ext cx="2857500" cy="82550"/>
          </a:xfrm>
          <a:prstGeom prst="rect">
            <a:avLst/>
          </a:prstGeom>
          <a:solidFill>
            <a:srgbClr val="EFE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727700" y="2101850"/>
            <a:ext cx="1428750" cy="8255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16950" y="2095500"/>
            <a:ext cx="228600" cy="88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  <a:latin typeface="Noto Sans KR"/>
              </a:rPr>
              <a:t>50%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08600" y="2235200"/>
            <a:ext cx="393700" cy="88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C0000"/>
                </a:solidFill>
                <a:latin typeface="Noto Sans KR"/>
              </a:rPr>
              <a:t>건설 ▼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727700" y="2241550"/>
            <a:ext cx="2857500" cy="82550"/>
          </a:xfrm>
          <a:prstGeom prst="rect">
            <a:avLst/>
          </a:prstGeom>
          <a:solidFill>
            <a:srgbClr val="EFE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727700" y="2241550"/>
            <a:ext cx="457200" cy="8255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16950" y="2235200"/>
            <a:ext cx="228600" cy="88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C0000"/>
                </a:solidFill>
                <a:latin typeface="Noto Sans KR"/>
              </a:rPr>
              <a:t>16%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08600" y="2501900"/>
            <a:ext cx="3365500" cy="7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AAAAAA"/>
                </a:solidFill>
                <a:latin typeface="Noto Sans KR"/>
              </a:rPr>
              <a:t>출처: McKinsey Global Institute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45100" y="2654300"/>
            <a:ext cx="3492500" cy="9398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308600" y="2717800"/>
            <a:ext cx="3365500" cy="88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999999"/>
                </a:solidFill>
                <a:latin typeface="Noto Sans KR"/>
              </a:rPr>
              <a:t>건설 기능인력 연령 분포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8600" y="3213100"/>
            <a:ext cx="800100" cy="82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333333"/>
                </a:solidFill>
                <a:latin typeface="Noto Sans KR"/>
              </a:rPr>
              <a:t>8%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308600" y="3302000"/>
            <a:ext cx="800100" cy="508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308600" y="3365500"/>
            <a:ext cx="800100" cy="82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99999"/>
                </a:solidFill>
                <a:latin typeface="Noto Sans KR"/>
              </a:rPr>
              <a:t>30대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59500" y="3136900"/>
            <a:ext cx="800100" cy="82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333333"/>
                </a:solidFill>
                <a:latin typeface="Noto Sans KR"/>
              </a:rPr>
              <a:t>22%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59500" y="3225800"/>
            <a:ext cx="800100" cy="127000"/>
          </a:xfrm>
          <a:prstGeom prst="rect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59500" y="3365500"/>
            <a:ext cx="800100" cy="82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99999"/>
                </a:solidFill>
                <a:latin typeface="Noto Sans KR"/>
              </a:rPr>
              <a:t>40대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10400" y="3079750"/>
            <a:ext cx="800100" cy="82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333333"/>
                </a:solidFill>
                <a:latin typeface="Noto Sans KR"/>
              </a:rPr>
              <a:t>38%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010400" y="3168650"/>
            <a:ext cx="800100" cy="18415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010400" y="3365500"/>
            <a:ext cx="800100" cy="82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99999"/>
                </a:solidFill>
                <a:latin typeface="Noto Sans KR"/>
              </a:rPr>
              <a:t>50대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861300" y="3111500"/>
            <a:ext cx="800100" cy="82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C0000"/>
                </a:solidFill>
                <a:latin typeface="Noto Sans KR"/>
              </a:rPr>
              <a:t>32%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861300" y="3200400"/>
            <a:ext cx="800100" cy="1524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861300" y="3365500"/>
            <a:ext cx="800100" cy="82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99999"/>
                </a:solidFill>
                <a:latin typeface="Noto Sans KR"/>
              </a:rPr>
              <a:t>60대+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308600" y="3454400"/>
            <a:ext cx="3365500" cy="114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AAAAAA"/>
                </a:solidFill>
                <a:latin typeface="Noto Sans KR"/>
              </a:rPr>
              <a:t>평균 연령 54세 → 10년 내 숙련 기능공 절벽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245100" y="3670300"/>
            <a:ext cx="1720850" cy="4953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308600" y="3721100"/>
            <a:ext cx="1593850" cy="88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AAAAA"/>
                </a:solidFill>
                <a:latin typeface="Noto Sans KR"/>
              </a:rPr>
              <a:t>연관산업 GDP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08600" y="3810000"/>
            <a:ext cx="1593850" cy="241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Noto Sans KR"/>
              </a:rPr>
              <a:t>20~25%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16750" y="3670300"/>
            <a:ext cx="1720850" cy="4953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080250" y="3721100"/>
            <a:ext cx="1593850" cy="88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99999"/>
                </a:solidFill>
                <a:latin typeface="Noto Sans KR"/>
              </a:rPr>
              <a:t>생산유발계수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0250" y="3810000"/>
            <a:ext cx="1593850" cy="241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Noto Sans KR"/>
              </a:rPr>
              <a:t>× 1.9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6400" y="165100"/>
            <a:ext cx="1905000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Noto Sans KR"/>
              </a:rPr>
              <a:t>2026.07.08.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18500" y="139700"/>
            <a:ext cx="419100" cy="165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 b="0" i="0">
                <a:solidFill>
                  <a:srgbClr val="555555"/>
                </a:solidFill>
                <a:latin typeface="Noto Sans KR"/>
              </a:rPr>
              <a:t>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6400" y="317500"/>
            <a:ext cx="381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11111"/>
                </a:solidFill>
                <a:latin typeface="Noto Sans KR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342900"/>
            <a:ext cx="730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Noto Sans KR"/>
              </a:rPr>
              <a:t>초학제적 기술 스택 — 각 레이어는 다른 전문가가 필요합니다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533400"/>
            <a:ext cx="1841500" cy="25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47900" y="546100"/>
            <a:ext cx="6489700" cy="635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400" y="635000"/>
            <a:ext cx="83312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Noto Sans KR"/>
              </a:rPr>
              <a:t>어느 한 분야가 독점할 수 없는 문제. BIM → 현장 → 준공 데이터화 흐름을 4개 기술 레이어가 완성한다.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00" y="825500"/>
            <a:ext cx="4114800" cy="16891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6100" y="914400"/>
            <a:ext cx="444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E0E0E0"/>
                </a:solidFill>
                <a:latin typeface="Noto Sans KR"/>
              </a:rPr>
              <a:t>01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6100" y="1244600"/>
            <a:ext cx="412750" cy="12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7850" y="1257300"/>
            <a:ext cx="387350" cy="1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33333"/>
                </a:solidFill>
                <a:latin typeface="Noto Sans KR"/>
              </a:rPr>
              <a:t>AR / XR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6100" y="1409700"/>
            <a:ext cx="3835400" cy="139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11111"/>
                </a:solidFill>
                <a:latin typeface="Noto Sans KR"/>
              </a:rPr>
              <a:t>현장 도면 오버레이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6100" y="1562100"/>
            <a:ext cx="3835400" cy="736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Noto Sans KR"/>
              </a:rPr>
              <a:t>태블릿·스마트글라스로 BIM 데이터를 실제 현장 공간에 실시간 중첩. 기능공이 도면 해석 없이 설계 의도를 직관적으로 파악. 오시공을 공정 중에 차단.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6100" y="2311400"/>
            <a:ext cx="3835400" cy="635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6100" y="2336800"/>
            <a:ext cx="38354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888888"/>
                </a:solidFill>
                <a:latin typeface="Noto Sans KR"/>
              </a:rPr>
              <a:t>→ 필요 전문가: </a:t>
            </a:r>
            <a:r>
              <a:rPr sz="900" b="1" i="0">
                <a:solidFill>
                  <a:srgbClr val="333333"/>
                </a:solidFill>
                <a:latin typeface="Noto Sans KR"/>
              </a:rPr>
              <a:t>광학·IoT·XR 엔지니어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22800" y="825500"/>
            <a:ext cx="4114800" cy="16891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62500" y="914400"/>
            <a:ext cx="444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E0E0E0"/>
                </a:solidFill>
                <a:latin typeface="Noto Sans KR"/>
              </a:rPr>
              <a:t>02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62500" y="1244600"/>
            <a:ext cx="412750" cy="12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94250" y="1257300"/>
            <a:ext cx="387350" cy="1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33333"/>
                </a:solidFill>
                <a:latin typeface="Noto Sans KR"/>
              </a:rPr>
              <a:t>AI / CV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62500" y="1409700"/>
            <a:ext cx="3835400" cy="139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11111"/>
                </a:solidFill>
                <a:latin typeface="Noto Sans KR"/>
              </a:rPr>
              <a:t>품질 검수 + 다국어 작업지시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62500" y="1562100"/>
            <a:ext cx="3835400" cy="736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Noto Sans KR"/>
              </a:rPr>
              <a:t>스마트폰 촬영만으로 수직·수평·마감 오류 실시간 AI 감지. 시공 지침을 베트남어·우즈벡어 등으로 즉시 변환 + 음성 안내. 언어 장벽 완전 제거.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62500" y="2311400"/>
            <a:ext cx="3835400" cy="635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62500" y="2336800"/>
            <a:ext cx="38354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888888"/>
                </a:solidFill>
                <a:latin typeface="Noto Sans KR"/>
              </a:rPr>
              <a:t>→ 필요 전문가: </a:t>
            </a:r>
            <a:r>
              <a:rPr sz="900" b="1" i="0">
                <a:solidFill>
                  <a:srgbClr val="333333"/>
                </a:solidFill>
                <a:latin typeface="Noto Sans KR"/>
              </a:rPr>
              <a:t>컴퓨터비전·NLP 데이터과학자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6400" y="2616200"/>
            <a:ext cx="4114800" cy="16891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6100" y="2705100"/>
            <a:ext cx="444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E0E0E0"/>
                </a:solidFill>
                <a:latin typeface="Noto Sans KR"/>
              </a:rPr>
              <a:t>03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6100" y="3035300"/>
            <a:ext cx="946150" cy="12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7850" y="3048000"/>
            <a:ext cx="920750" cy="1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33333"/>
                </a:solidFill>
                <a:latin typeface="Noto Sans KR"/>
              </a:rPr>
              <a:t>ROBOTICS + VR + EDU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6100" y="3200400"/>
            <a:ext cx="3835400" cy="139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11111"/>
                </a:solidFill>
                <a:latin typeface="Noto Sans KR"/>
              </a:rPr>
              <a:t>현장 자동화 + 기능인력 교육 인프라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6100" y="3352800"/>
            <a:ext cx="3835400" cy="736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Noto Sans KR"/>
              </a:rPr>
              <a:t>로봇이 반복 작업 수행 → 인간은 CQP(건설품질전문가)로 전환. 3-Layer: ① VR 시뮬레이션으로 숙련 노하우 계승 ② 한국폴리텍대학 연계 CQP 정규 트랙 + 블록체인 자격증 ③ 송출국 현지 사전 교육 → 입국 즉시 투입.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6100" y="4102100"/>
            <a:ext cx="3835400" cy="635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6100" y="4127500"/>
            <a:ext cx="38354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888888"/>
                </a:solidFill>
                <a:latin typeface="Noto Sans KR"/>
              </a:rPr>
              <a:t>→ 필요 전문가: </a:t>
            </a:r>
            <a:r>
              <a:rPr sz="900" b="1" i="0">
                <a:solidFill>
                  <a:srgbClr val="333333"/>
                </a:solidFill>
                <a:latin typeface="Noto Sans KR"/>
              </a:rPr>
              <a:t>로보틱스·HCI·VR·직업교육 연구자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22800" y="2616200"/>
            <a:ext cx="4114800" cy="16891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62500" y="2705100"/>
            <a:ext cx="444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E0E0E0"/>
                </a:solidFill>
                <a:latin typeface="Noto Sans KR"/>
              </a:rPr>
              <a:t>04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762500" y="3035300"/>
            <a:ext cx="546100" cy="12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94250" y="3048000"/>
            <a:ext cx="520700" cy="1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33333"/>
                </a:solidFill>
                <a:latin typeface="Noto Sans KR"/>
              </a:rPr>
              <a:t>BLOCKCHAIN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62500" y="3200400"/>
            <a:ext cx="3835400" cy="139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11111"/>
                </a:solidFill>
                <a:latin typeface="Noto Sans KR"/>
              </a:rPr>
              <a:t>설계 이력 보존 + 품질 인증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62500" y="3352800"/>
            <a:ext cx="3835400" cy="736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Noto Sans KR"/>
              </a:rPr>
              <a:t>BIM 원본·시공 전 과정·준공 데이터를 블록체인 등록. 조작 불가능한 품질 기록. 설계-시공 일치율 자동 산출 → 데이터가 품질을 증명.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762500" y="4102100"/>
            <a:ext cx="3835400" cy="635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62500" y="4127500"/>
            <a:ext cx="38354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888888"/>
                </a:solidFill>
                <a:latin typeface="Noto Sans KR"/>
              </a:rPr>
              <a:t>→ 필요 전문가: </a:t>
            </a:r>
            <a:r>
              <a:rPr sz="900" b="1" i="0">
                <a:solidFill>
                  <a:srgbClr val="333333"/>
                </a:solidFill>
                <a:latin typeface="Noto Sans KR"/>
              </a:rPr>
              <a:t>분산원장·공공정책·법제도 전문가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6400" y="165100"/>
            <a:ext cx="1905000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Noto Sans KR"/>
              </a:rPr>
              <a:t>2026.07.08.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18500" y="139700"/>
            <a:ext cx="419100" cy="165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 b="0" i="0">
                <a:solidFill>
                  <a:srgbClr val="555555"/>
                </a:solidFill>
                <a:latin typeface="Noto Sans KR"/>
              </a:rPr>
              <a:t>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6400" y="317500"/>
            <a:ext cx="381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11111"/>
                </a:solidFill>
                <a:latin typeface="Noto Sans KR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342900"/>
            <a:ext cx="730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Noto Sans KR"/>
              </a:rPr>
              <a:t>산학협력 방안: 초학제 연구팀 구성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533400"/>
            <a:ext cx="1841500" cy="25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47900" y="546100"/>
            <a:ext cx="6489700" cy="635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400" y="635000"/>
            <a:ext cx="83312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1">
                <a:solidFill>
                  <a:srgbClr val="111111"/>
                </a:solidFill>
                <a:latin typeface="Noto Sans KR"/>
              </a:rPr>
              <a:t>"건설 디지털 전환은 어느 단일 기관이 독점할 수 없다. AR·AI·로보틱스·블록체인 각 레이어를 선도하는 연구팀과 기술을 공동 개발하고, 실제 현장 실증으로 상용화까지 연결한다."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06400" y="952500"/>
          <a:ext cx="8331200" cy="391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500"/>
                <a:gridCol w="2540000"/>
                <a:gridCol w="4457700"/>
              </a:tblGrid>
              <a:tr h="25400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Noto Sans KR"/>
                        </a:rPr>
                        <a:t>협력 분야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Noto Sans KR"/>
                        </a:rPr>
                        <a:t>담당 연구실 / 기관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Noto Sans KR"/>
                        </a:rPr>
                        <a:t>주요 역할 및 추진 내용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11111"/>
                          </a:solidFill>
                          <a:latin typeface="Noto Sans KR"/>
                        </a:rPr>
                        <a:t>AR / XR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Noto Sans KR"/>
                        </a:rPr>
                        <a:t>서울대 전기정보공학부</a:t>
                      </a:r>
                    </a:p>
                    <a:p>
                      <a:pPr algn="l"/>
                      <a:r>
                        <a:rPr sz="900" b="0" i="0">
                          <a:solidFill>
                            <a:srgbClr val="888888"/>
                          </a:solidFill>
                          <a:latin typeface="Noto Sans KR"/>
                        </a:rPr>
                        <a:t>XR·3D 공간인식 연구실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33333"/>
                          </a:solidFill>
                          <a:latin typeface="Noto Sans KR"/>
                        </a:rPr>
                        <a:t>BIM-현장 실시간 공간 정합 알고리즘 개발, 스마트글라스 현장 UI 최적화 및 공공건물 PoC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11111"/>
                          </a:solidFill>
                          <a:latin typeface="Noto Sans KR"/>
                        </a:rPr>
                        <a:t>AI / CV · NLP</a:t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Noto Sans KR"/>
                        </a:rPr>
                        <a:t>서울대 AI연구원 (AIIS)</a:t>
                      </a:r>
                    </a:p>
                    <a:p>
                      <a:pPr algn="l"/>
                      <a:r>
                        <a:rPr sz="900" b="0" i="0">
                          <a:solidFill>
                            <a:srgbClr val="888888"/>
                          </a:solidFill>
                          <a:latin typeface="Noto Sans KR"/>
                        </a:rPr>
                        <a:t>컴퓨터비전·자연어처리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33333"/>
                          </a:solidFill>
                          <a:latin typeface="Noto Sans KR"/>
                        </a:rPr>
                        <a:t>시공 오류 실시간 감지 모델, 다국어 작업지시 번역·음성합성 엔진 개발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11111"/>
                          </a:solidFill>
                          <a:latin typeface="Noto Sans KR"/>
                        </a:rPr>
                        <a:t>로보틱스 · VR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Noto Sans KR"/>
                        </a:rPr>
                        <a:t>KAIST 로봇공학학제전공</a:t>
                      </a:r>
                    </a:p>
                    <a:p>
                      <a:pPr algn="l"/>
                      <a:r>
                        <a:rPr sz="900" b="0" i="0">
                          <a:solidFill>
                            <a:srgbClr val="888888"/>
                          </a:solidFill>
                          <a:latin typeface="Noto Sans KR"/>
                        </a:rPr>
                        <a:t>건설자동화·HRI 연구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33333"/>
                          </a:solidFill>
                          <a:latin typeface="Noto Sans KR"/>
                        </a:rPr>
                        <a:t>타일·미장 작업 로봇 시스템, 인간-로봇 협업 인터페이스, VR 기능 훈련 콘텐츠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11111"/>
                          </a:solidFill>
                          <a:latin typeface="Noto Sans KR"/>
                        </a:rPr>
                        <a:t>블록체인 · 정책</a:t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Noto Sans KR"/>
                        </a:rPr>
                        <a:t>서울대 컴퓨터공학부</a:t>
                      </a:r>
                    </a:p>
                    <a:p>
                      <a:pPr algn="l"/>
                      <a:r>
                        <a:rPr sz="900" b="0" i="0">
                          <a:solidFill>
                            <a:srgbClr val="888888"/>
                          </a:solidFill>
                          <a:latin typeface="Noto Sans KR"/>
                        </a:rPr>
                        <a:t>분산시스템 + 법학전문대학원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33333"/>
                          </a:solidFill>
                          <a:latin typeface="Noto Sans KR"/>
                        </a:rPr>
                        <a:t>시공 이력 불변 기록 스마트계약, 설계-시공 일치율 인증 제도화 법제 연구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11111"/>
                          </a:solidFill>
                          <a:latin typeface="Noto Sans KR"/>
                        </a:rPr>
                        <a:t>스마트건설 실증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Noto Sans KR"/>
                        </a:rPr>
                        <a:t>한국건설기술연구원 (KICT)</a:t>
                      </a:r>
                    </a:p>
                    <a:p>
                      <a:pPr algn="l"/>
                      <a:r>
                        <a:rPr sz="900" b="0" i="0">
                          <a:solidFill>
                            <a:srgbClr val="888888"/>
                          </a:solidFill>
                          <a:latin typeface="Noto Sans KR"/>
                        </a:rPr>
                        <a:t>스마트건설지원센터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33333"/>
                          </a:solidFill>
                          <a:latin typeface="Noto Sans KR"/>
                        </a:rPr>
                        <a:t>공공건물 현장 PoC 설계·운영, 국토부 스마트건설 표준화 연계, 정부 위탁과제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11111"/>
                          </a:solidFill>
                          <a:latin typeface="Noto Sans KR"/>
                        </a:rPr>
                        <a:t>기능인력 교육</a:t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Noto Sans KR"/>
                        </a:rPr>
                        <a:t>한국폴리텍대학</a:t>
                      </a:r>
                    </a:p>
                    <a:p>
                      <a:pPr algn="l"/>
                      <a:r>
                        <a:rPr sz="900" b="0" i="0">
                          <a:solidFill>
                            <a:srgbClr val="888888"/>
                          </a:solidFill>
                          <a:latin typeface="Noto Sans KR"/>
                        </a:rPr>
                        <a:t>+ 한국직업능력연구원 (KRIVET)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33333"/>
                          </a:solidFill>
                          <a:latin typeface="Noto Sans KR"/>
                        </a:rPr>
                        <a:t>CQP 정규 교육과정 개발·운영, VR 기능 훈련 콘텐츠 공동 제작, 해외 사전 교육 센터 연계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6400" y="165100"/>
            <a:ext cx="1905000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Noto Sans KR"/>
              </a:rPr>
              <a:t>2026.07.08.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18500" y="139700"/>
            <a:ext cx="419100" cy="165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 b="0" i="0">
                <a:solidFill>
                  <a:srgbClr val="555555"/>
                </a:solidFill>
                <a:latin typeface="Noto Sans KR"/>
              </a:rPr>
              <a:t>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6400" y="317500"/>
            <a:ext cx="381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11111"/>
                </a:solidFill>
                <a:latin typeface="Noto Sans KR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342900"/>
            <a:ext cx="730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Noto Sans KR"/>
              </a:rPr>
              <a:t>수익 및 기대효과: K-Architecture의 시작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533400"/>
            <a:ext cx="1841500" cy="25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47900" y="546100"/>
            <a:ext cx="6489700" cy="635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06400" y="635000"/>
          <a:ext cx="8331200" cy="1511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97200"/>
                <a:gridCol w="1727200"/>
                <a:gridCol w="1727200"/>
                <a:gridCol w="1879600"/>
              </a:tblGrid>
              <a:tr h="26670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Noto Sans KR"/>
                        </a:rPr>
                        <a:t>수익원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Noto Sans KR"/>
                        </a:rPr>
                        <a:t>단가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Noto Sans KR"/>
                        </a:rPr>
                        <a:t>초기 목표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Noto Sans KR"/>
                        </a:rPr>
                        <a:t>연 매출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31115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44444"/>
                          </a:solidFill>
                          <a:latin typeface="Noto Sans KR"/>
                        </a:rPr>
                        <a:t>현장 SaaS (건설사·건축사)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44444"/>
                          </a:solidFill>
                          <a:latin typeface="Noto Sans KR"/>
                        </a:rPr>
                        <a:t>현장당 월 500만~2,000만원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44444"/>
                          </a:solidFill>
                          <a:latin typeface="Noto Sans KR"/>
                        </a:rPr>
                        <a:t>100개 현장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11111"/>
                          </a:solidFill>
                          <a:latin typeface="Noto Sans KR"/>
                        </a:rPr>
                        <a:t>60억~240억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115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44444"/>
                          </a:solidFill>
                          <a:latin typeface="Noto Sans KR"/>
                        </a:rPr>
                        <a:t>공공건물 품질 인증</a:t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44444"/>
                          </a:solidFill>
                          <a:latin typeface="Noto Sans KR"/>
                        </a:rPr>
                        <a:t>건당 5,000만~3억원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44444"/>
                          </a:solidFill>
                          <a:latin typeface="Noto Sans KR"/>
                        </a:rPr>
                        <a:t>연 50건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11111"/>
                          </a:solidFill>
                          <a:latin typeface="Noto Sans KR"/>
                        </a:rPr>
                        <a:t>25억~150억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1115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44444"/>
                          </a:solidFill>
                          <a:latin typeface="Noto Sans KR"/>
                        </a:rPr>
                        <a:t>CQP 기능학교 + 정부위탁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44444"/>
                          </a:solidFill>
                          <a:latin typeface="Noto Sans KR"/>
                        </a:rPr>
                        <a:t>인당 300~500만 + 과제 수억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44444"/>
                          </a:solidFill>
                          <a:latin typeface="Noto Sans KR"/>
                        </a:rPr>
                        <a:t>연 1,000명 + 3건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11111"/>
                          </a:solidFill>
                          <a:latin typeface="Noto Sans KR"/>
                        </a:rPr>
                        <a:t>30억~100억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115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44444"/>
                          </a:solidFill>
                          <a:latin typeface="Noto Sans KR"/>
                        </a:rPr>
                        <a:t>해외 사전 교육</a:t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44444"/>
                          </a:solidFill>
                          <a:latin typeface="Noto Sans KR"/>
                        </a:rPr>
                        <a:t>인당 50~100만원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44444"/>
                          </a:solidFill>
                          <a:latin typeface="Noto Sans KR"/>
                        </a:rPr>
                        <a:t>연 2,000명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11111"/>
                          </a:solidFill>
                          <a:latin typeface="Noto Sans KR"/>
                        </a:rPr>
                        <a:t>10억~20억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06400" y="2260600"/>
            <a:ext cx="8331200" cy="5715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6900" y="2336800"/>
            <a:ext cx="7950200" cy="444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FFFFFF"/>
                </a:solidFill>
                <a:latin typeface="Noto Sans KR"/>
              </a:rPr>
              <a:t>건설은 수출 지표가 아니라 시민의 삶을 짓는 산업이다. </a:t>
            </a:r>
            <a:r>
              <a:rPr sz="1300" b="0" i="0">
                <a:solidFill>
                  <a:srgbClr val="FFFFFF"/>
                </a:solidFill>
                <a:latin typeface="Noto Sans KR"/>
              </a:rPr>
              <a:t>GDP 20~25%가 곧 사람들이 매일 출근하고, 치료받고, 배우는 공간의 질이다.</a:t>
            </a:r>
          </a:p>
          <a:p>
            <a:r>
              <a:rPr sz="1300" b="0" i="0">
                <a:solidFill>
                  <a:srgbClr val="FFFFFF"/>
                </a:solidFill>
                <a:latin typeface="Noto Sans KR"/>
              </a:rPr>
              <a:t>FieldBridge가 인증한 공공건물이 해외 건축상을 받고, 한국 건설사의 해외 수주 포트폴리오가 되는 날 — 그것이 </a:t>
            </a:r>
            <a:r>
              <a:rPr sz="1300" b="1" i="0">
                <a:solidFill>
                  <a:srgbClr val="FFFFFF"/>
                </a:solidFill>
                <a:latin typeface="Noto Sans KR"/>
              </a:rPr>
              <a:t>K-Architecture</a:t>
            </a:r>
            <a:r>
              <a:rPr sz="1300" b="0" i="0">
                <a:solidFill>
                  <a:srgbClr val="FFFFFF"/>
                </a:solidFill>
                <a:latin typeface="Noto Sans KR"/>
              </a:rPr>
              <a:t>의 시작이다.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6400" y="2921000"/>
            <a:ext cx="4445000" cy="114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9999"/>
                </a:solidFill>
                <a:latin typeface="Noto Sans KR"/>
              </a:rPr>
              <a:t>TAIC 원우들께 드리는 역할 제안 — 함께 만들 수 있는 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6400" y="3073400"/>
            <a:ext cx="1612900" cy="18415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9900" y="3149600"/>
            <a:ext cx="1485900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11111"/>
                </a:solidFill>
                <a:latin typeface="Noto Sans KR"/>
              </a:rPr>
              <a:t>반도체·IoT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9900" y="3289300"/>
            <a:ext cx="1485900" cy="154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Noto Sans KR"/>
              </a:rPr>
              <a:t>AR 글라스·스마트 센서·현장 로봇 하드웨어 파트너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82800" y="3073400"/>
            <a:ext cx="1612900" cy="18415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46300" y="3149600"/>
            <a:ext cx="1485900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11111"/>
                </a:solidFill>
                <a:latin typeface="Noto Sans KR"/>
              </a:rPr>
              <a:t>데이터과학·AI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6300" y="3289300"/>
            <a:ext cx="1485900" cy="154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Noto Sans KR"/>
              </a:rPr>
              <a:t>컴퓨터비전 품질검수 + 다국어 NLP 엔진 개발자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59200" y="3073400"/>
            <a:ext cx="1612900" cy="18415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22700" y="3149600"/>
            <a:ext cx="1485900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11111"/>
                </a:solidFill>
                <a:latin typeface="Noto Sans KR"/>
              </a:rPr>
              <a:t>의료·바이오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22700" y="3289300"/>
            <a:ext cx="1485900" cy="154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Noto Sans KR"/>
              </a:rPr>
              <a:t>기능공 안전·병원건물 품질인증 특화 파트너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35600" y="3073400"/>
            <a:ext cx="1612900" cy="18415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99100" y="3149600"/>
            <a:ext cx="1485900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11111"/>
                </a:solidFill>
                <a:latin typeface="Noto Sans KR"/>
              </a:rPr>
              <a:t>공공·정책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99100" y="3289300"/>
            <a:ext cx="1485900" cy="154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Noto Sans KR"/>
              </a:rPr>
              <a:t>공공발주 인증 제도화 · 직종 정규화 파트너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12000" y="3073400"/>
            <a:ext cx="1612900" cy="18415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75500" y="3149600"/>
            <a:ext cx="1485900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11111"/>
                </a:solidFill>
                <a:latin typeface="Noto Sans KR"/>
              </a:rPr>
              <a:t>경영·금융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5500" y="3289300"/>
            <a:ext cx="1485900" cy="154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Noto Sans KR"/>
              </a:rPr>
              <a:t>플랫폼 사업화 · 기능인 금융공제 설계 파트너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