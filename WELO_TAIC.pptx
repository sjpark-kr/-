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165100"/>
            <a:ext cx="2540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2026.07.08.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8500" y="139700"/>
            <a:ext cx="4191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555555"/>
                </a:solidFill>
                <a:latin typeface="Noto Sans KR"/>
              </a:rPr>
              <a:t>×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330200"/>
            <a:ext cx="8331200" cy="6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419100"/>
            <a:ext cx="5588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111111"/>
                </a:solidFill>
                <a:latin typeface="Noto Sans KR"/>
              </a:rPr>
              <a:t>WELO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0" y="546100"/>
            <a:ext cx="28956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11111"/>
                </a:solidFill>
                <a:latin typeface="Noto Sans KR"/>
              </a:rPr>
              <a:t>박수정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685800"/>
            <a:ext cx="2895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Noto Sans KR"/>
              </a:rPr>
              <a:t>건축공방 · 건축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1041400"/>
            <a:ext cx="69850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Noto Sans KR"/>
              </a:rPr>
              <a:t>AI 주거 전환 플랫폼 — 아파트를 사는(buy) 집에서 사는(live) 집으로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206500"/>
            <a:ext cx="7620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Noto Sans KR"/>
              </a:rPr>
              <a:t>생성형AI · 디지털트윈 · AI 인필 · 인터랙티브 입면  /  2,000만 가구, 삶이 바뀌는 집</a:t>
            </a:r>
          </a:p>
        </p:txBody>
      </p:sp>
      <p:pic>
        <p:nvPicPr>
          <p:cNvPr id="10" name="Picture 9" descr="img_geomd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371600"/>
            <a:ext cx="2032000" cy="3517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6400" y="4699000"/>
            <a:ext cx="20320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500" y="4711700"/>
            <a:ext cx="1955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Noto Sans KR"/>
              </a:rPr>
              <a:t>인천 검단 박물관·도서관</a:t>
            </a:r>
          </a:p>
        </p:txBody>
      </p:sp>
      <p:pic>
        <p:nvPicPr>
          <p:cNvPr id="13" name="Picture 12" descr="img_hanga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1371600"/>
            <a:ext cx="2032000" cy="35179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01900" y="4699000"/>
            <a:ext cx="20320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0000" y="4711700"/>
            <a:ext cx="1955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Noto Sans KR"/>
              </a:rPr>
              <a:t>한강덮개공원</a:t>
            </a:r>
          </a:p>
        </p:txBody>
      </p:sp>
      <p:pic>
        <p:nvPicPr>
          <p:cNvPr id="16" name="Picture 15" descr="img_gwangjang_n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00" y="1371600"/>
            <a:ext cx="2032000" cy="35179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97400" y="4699000"/>
            <a:ext cx="20320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5500" y="4711700"/>
            <a:ext cx="1955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Noto Sans KR"/>
              </a:rPr>
              <a:t>광장동 복합체육시설</a:t>
            </a:r>
          </a:p>
        </p:txBody>
      </p:sp>
      <p:pic>
        <p:nvPicPr>
          <p:cNvPr id="19" name="Picture 18" descr="img_project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0" y="1371600"/>
            <a:ext cx="2032000" cy="35179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692900" y="4699000"/>
            <a:ext cx="20320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1000" y="4711700"/>
            <a:ext cx="1955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Noto Sans KR"/>
              </a:rPr>
              <a:t>광주비엔날레 전시관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40600" y="4889500"/>
            <a:ext cx="1397000" cy="190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3300" y="4902200"/>
            <a:ext cx="13843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TAIC 15주차  산학협력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165100"/>
            <a:ext cx="190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2026.07.08.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8500" y="139700"/>
            <a:ext cx="4191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555555"/>
                </a:solidFill>
                <a:latin typeface="Noto Sans KR"/>
              </a:rPr>
              <a:t>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317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Noto Sans K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42900"/>
            <a:ext cx="730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Noto Sans KR"/>
              </a:rPr>
              <a:t>문제: 아파트는 30년째 변하지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533400"/>
            <a:ext cx="1841500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7900" y="546100"/>
            <a:ext cx="64897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400" y="723900"/>
            <a:ext cx="25400" cy="381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100" y="723900"/>
            <a:ext cx="441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44444"/>
                </a:solidFill>
                <a:latin typeface="Noto Sans KR"/>
              </a:rPr>
              <a:t>"1인 가구 34.5%, 고령화, 재택근무의 시대. 집은 변해야 하는데 아파트 구조는 30년째 그대로다. 이것이 </a:t>
            </a:r>
            <a:r>
              <a:rPr sz="1100" b="1" i="1">
                <a:solidFill>
                  <a:srgbClr val="111111"/>
                </a:solidFill>
                <a:latin typeface="Noto Sans KR"/>
              </a:rPr>
              <a:t>2,000만 가구의 일상적 불편</a:t>
            </a:r>
            <a:r>
              <a:rPr sz="1100" b="0" i="1">
                <a:solidFill>
                  <a:srgbClr val="444444"/>
                </a:solidFill>
                <a:latin typeface="Noto Sans KR"/>
              </a:rPr>
              <a:t>이다."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104900"/>
            <a:ext cx="4191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BEBEB"/>
                </a:solidFill>
                <a:latin typeface="Noto Sans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900" y="1168400"/>
            <a:ext cx="41275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Noto Sans KR"/>
              </a:rPr>
              <a:t>벽식 구조의 공간 고착화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1320800"/>
            <a:ext cx="41275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Noto Sans KR"/>
              </a:rPr>
              <a:t>BIM·AI가 수천 개 평면을 생성할 수 있지만, 지어진 집은 바꿀 수 없다. 내력벽이 삶의 변화를 가로막는다. 국내 아파트의 84%가 벽식 구조.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2089150"/>
            <a:ext cx="4191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BEBEB"/>
                </a:solidFill>
                <a:latin typeface="Noto Sans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2152650"/>
            <a:ext cx="41275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Noto Sans KR"/>
              </a:rPr>
              <a:t>변하는 삶, 변하지 않는 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2305050"/>
            <a:ext cx="41275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Noto Sans KR"/>
              </a:rPr>
              <a:t>1인 가구 34.5%(2023년), 재택근무 보편화, 고령화. 3인 가족 기준으로 설계된 아파트가 1·2인 가구의 70%를 수용한다. 공간이 삶을 거스른다.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3073400"/>
            <a:ext cx="4191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BEBEB"/>
                </a:solidFill>
                <a:latin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0" y="3136900"/>
            <a:ext cx="41275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Noto Sans KR"/>
              </a:rPr>
              <a:t>외피는 에너지를 낭비한다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0" y="3289300"/>
            <a:ext cx="41275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Noto Sans KR"/>
              </a:rPr>
              <a:t>건물 에너지 손실의 40~50%가 외피에서 발생. AI 인터랙티브 입면 적용 시 30~79% 절감 가능(논문 Vol.7 No.3)하나 국내 주거에는 전무.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0800" y="723900"/>
            <a:ext cx="6350" cy="4064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45100" y="723900"/>
            <a:ext cx="3492500" cy="939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8600" y="787400"/>
            <a:ext cx="3365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Noto Sans KR"/>
              </a:rPr>
              <a:t>1인 가구 비율 추이 (통계청)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8600" y="1282700"/>
            <a:ext cx="641350" cy="8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  <a:latin typeface="Noto Sans KR"/>
              </a:rPr>
              <a:t>27%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8600" y="1371600"/>
            <a:ext cx="641350" cy="152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8600" y="1536700"/>
            <a:ext cx="64135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Noto Sans KR"/>
              </a:rPr>
              <a:t>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050" y="1270000"/>
            <a:ext cx="641350" cy="8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  <a:latin typeface="Noto Sans KR"/>
              </a:rPr>
              <a:t>29%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8050" y="1358900"/>
            <a:ext cx="641350" cy="1651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8050" y="1536700"/>
            <a:ext cx="64135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Noto Sans KR"/>
              </a:rPr>
              <a:t>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1257300"/>
            <a:ext cx="641350" cy="8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Noto Sans KR"/>
              </a:rPr>
              <a:t>32%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500" y="1346200"/>
            <a:ext cx="641350" cy="177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7500" y="1536700"/>
            <a:ext cx="64135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Noto Sans KR"/>
              </a:rP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6950" y="1238250"/>
            <a:ext cx="641350" cy="8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Noto Sans KR"/>
              </a:rPr>
              <a:t>35%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46950" y="1327150"/>
            <a:ext cx="641350" cy="1968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6950" y="1536700"/>
            <a:ext cx="64135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Noto Sans KR"/>
              </a:rPr>
              <a:t>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6400" y="1206500"/>
            <a:ext cx="641350" cy="8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0000"/>
                </a:solidFill>
                <a:latin typeface="Noto Sans KR"/>
              </a:rPr>
              <a:t>40%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26400" y="1295400"/>
            <a:ext cx="64135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6400" y="1536700"/>
            <a:ext cx="64135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Noto Sans KR"/>
              </a:rPr>
              <a:t>2030
예상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8600" y="1587500"/>
            <a:ext cx="3365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Noto Sans KR"/>
              </a:rPr>
              <a:t>2030년 40% 돌파 전망 (통계청)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5100" y="1739900"/>
            <a:ext cx="3492500" cy="952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8600" y="1803400"/>
            <a:ext cx="3365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Noto Sans KR"/>
              </a:rPr>
              <a:t>AI 입면 에너지 절감 효과 (국제 사례)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8600" y="1943100"/>
            <a:ext cx="444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KR"/>
              </a:rPr>
              <a:t>기존 아파트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78500" y="1955800"/>
            <a:ext cx="28575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1400" y="1943100"/>
            <a:ext cx="2286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8600" y="2082800"/>
            <a:ext cx="444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KR"/>
              </a:rPr>
              <a:t>NEST (RL)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78500" y="2095500"/>
            <a:ext cx="28575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78500" y="2095500"/>
            <a:ext cx="742950" cy="76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1400" y="2082800"/>
            <a:ext cx="2286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26%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8600" y="2222500"/>
            <a:ext cx="444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KR"/>
              </a:rPr>
              <a:t>Al Bahar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78500" y="2235200"/>
            <a:ext cx="28575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78500" y="2235200"/>
            <a:ext cx="1428750" cy="76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1400" y="2222500"/>
            <a:ext cx="2286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50%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8600" y="2362200"/>
            <a:ext cx="444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KR"/>
              </a:rPr>
              <a:t>The Edge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8500" y="2374900"/>
            <a:ext cx="28575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78500" y="2374900"/>
            <a:ext cx="2000250" cy="76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61400" y="2362200"/>
            <a:ext cx="2286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70%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8600" y="2501900"/>
            <a:ext cx="444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111"/>
                </a:solidFill>
                <a:latin typeface="Noto Sans KR"/>
              </a:rPr>
              <a:t>HouseZero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78500" y="2514600"/>
            <a:ext cx="28575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78500" y="2514600"/>
            <a:ext cx="225425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1400" y="2501900"/>
            <a:ext cx="2286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KR"/>
              </a:rPr>
              <a:t>79%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8600" y="2616200"/>
            <a:ext cx="336550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Noto Sans KR"/>
              </a:rPr>
              <a:t>출처: Vol.7 No.3 논문 사례분석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45100" y="2768600"/>
            <a:ext cx="1720850" cy="482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8600" y="2819400"/>
            <a:ext cx="159385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Noto Sans KR"/>
              </a:rPr>
              <a:t>주거 총가구 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8600" y="2908300"/>
            <a:ext cx="159385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KR"/>
              </a:rPr>
              <a:t>2,000만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16750" y="2768600"/>
            <a:ext cx="1720850" cy="482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0250" y="2819400"/>
            <a:ext cx="159385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Noto Sans KR"/>
              </a:rPr>
              <a:t>외피 기인 에너지손실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0250" y="2908300"/>
            <a:ext cx="159385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Noto Sans KR"/>
              </a:rPr>
              <a:t>40~50%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165100"/>
            <a:ext cx="190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2026.07.08.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8500" y="139700"/>
            <a:ext cx="4191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555555"/>
                </a:solidFill>
                <a:latin typeface="Noto Sans KR"/>
              </a:rPr>
              <a:t>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317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Noto Sans K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42900"/>
            <a:ext cx="730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Noto Sans KR"/>
              </a:rPr>
              <a:t>솔루션: 3-Layer AI 주거 전환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533400"/>
            <a:ext cx="1841500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7900" y="546100"/>
            <a:ext cx="64897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" y="635000"/>
            <a:ext cx="83312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Noto Sans KR"/>
              </a:rPr>
              <a:t>논문으로 검증된 연구 기반. 공간의 유연성과 에너지 자립을 동시에 실현하는 세 가지 기술 레이어 + AI 통합 제어.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825500"/>
            <a:ext cx="4114800" cy="168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100" y="914400"/>
            <a:ext cx="44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E0E0"/>
                </a:solidFill>
                <a:latin typeface="Noto Sans KR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" y="1244600"/>
            <a:ext cx="7239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850" y="1257300"/>
            <a:ext cx="69850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Noto Sans KR"/>
              </a:rPr>
              <a:t>생성형AI + 인필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1409700"/>
            <a:ext cx="38354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Noto Sans KR"/>
              </a:rPr>
              <a:t>가변형 공간 자동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" y="1562100"/>
            <a:ext cx="383540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Noto Sans KR"/>
              </a:rPr>
              <a:t>거주자 요구를 입력하면 생성형 AI가 최적 평면을 제안. 모듈형 벽체·모바일 설비 포드가 실제 공간을 재구성. MUJI Infill 0·Optibo 국제 사례 검증. (Vol.7 No.2)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100" y="2311400"/>
            <a:ext cx="3835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100" y="2336800"/>
            <a:ext cx="383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Noto Sans KR"/>
              </a:rPr>
              <a:t>→ 필요 전문가: </a:t>
            </a:r>
            <a:r>
              <a:rPr sz="900" b="1" i="0">
                <a:solidFill>
                  <a:srgbClr val="333333"/>
                </a:solidFill>
                <a:latin typeface="Noto Sans KR"/>
              </a:rPr>
              <a:t>생성형AI·공간데이터·인필 시스템 연구자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2800" y="825500"/>
            <a:ext cx="4114800" cy="168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2500" y="914400"/>
            <a:ext cx="44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E0E0"/>
                </a:solidFill>
                <a:latin typeface="Noto Sans KR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0" y="1244600"/>
            <a:ext cx="59055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4250" y="1257300"/>
            <a:ext cx="56515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Noto Sans KR"/>
              </a:rPr>
              <a:t>AI 인터랙티브 입면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1409700"/>
            <a:ext cx="38354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Noto Sans KR"/>
              </a:rPr>
              <a:t>에너지 자율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1562100"/>
            <a:ext cx="383540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Noto Sans KR"/>
              </a:rPr>
              <a:t>스마트 글레이징·키네틱 차양·BIPV를 강화학습으로 통합 제어. 국내 아파트 대비 냉난방 에너지 30~79% 절감. The Edge·HouseZero 사례 검증. (Vol.7 No.3)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0" y="2311400"/>
            <a:ext cx="3835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2500" y="2336800"/>
            <a:ext cx="383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Noto Sans KR"/>
              </a:rPr>
              <a:t>→ 필요 전문가: </a:t>
            </a:r>
            <a:r>
              <a:rPr sz="900" b="1" i="0">
                <a:solidFill>
                  <a:srgbClr val="333333"/>
                </a:solidFill>
                <a:latin typeface="Noto Sans KR"/>
              </a:rPr>
              <a:t>에너지공학·강화학습·BIPV 연구자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400" y="2616200"/>
            <a:ext cx="4114800" cy="168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100" y="2705100"/>
            <a:ext cx="44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E0E0"/>
                </a:solidFill>
                <a:latin typeface="Noto Sans KR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6100" y="3035300"/>
            <a:ext cx="3683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850" y="3048000"/>
            <a:ext cx="34290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Noto Sans KR"/>
              </a:rPr>
              <a:t>디지털 트윈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" y="3200400"/>
            <a:ext cx="38354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Noto Sans KR"/>
              </a:rPr>
              <a:t>공간·에너지 실시간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00" y="3352800"/>
            <a:ext cx="383540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Noto Sans KR"/>
              </a:rPr>
              <a:t>물리적 주거 공간의 디지털 복사본이 IoT 센서 데이터로 실시간 업데이트. 리모델링 전 가상 시뮬레이션, 예측적 유지관리, 에너지 이상 감지. (Vol.7 No.2·3)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100" y="4102100"/>
            <a:ext cx="3835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100" y="4127500"/>
            <a:ext cx="383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Noto Sans KR"/>
              </a:rPr>
              <a:t>→ 필요 전문가: </a:t>
            </a:r>
            <a:r>
              <a:rPr sz="900" b="1" i="0">
                <a:solidFill>
                  <a:srgbClr val="333333"/>
                </a:solidFill>
                <a:latin typeface="Noto Sans KR"/>
              </a:rPr>
              <a:t>디지털트윈·IoT·시스템공학 연구자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2800" y="2616200"/>
            <a:ext cx="4114800" cy="168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2500" y="2705100"/>
            <a:ext cx="44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E0E0"/>
                </a:solidFill>
                <a:latin typeface="Noto Sans KR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62500" y="3035300"/>
            <a:ext cx="5461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4250" y="3048000"/>
            <a:ext cx="52070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Noto Sans KR"/>
              </a:rPr>
              <a:t>강화학습 통합 제어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0" y="3200400"/>
            <a:ext cx="38354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Noto Sans KR"/>
              </a:rPr>
              <a:t>세대별 AI 어시스턴트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0" y="3352800"/>
            <a:ext cx="383540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Noto Sans KR"/>
              </a:rPr>
              <a:t>거주자의 행동 패턴을 머신러닝으로 학습. 시간대·상황에 맞는 공간·에너지 환경 자동 구성. 프라이버시 보호형 컴퓨터비전 재실 감지 내장.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0" y="4102100"/>
            <a:ext cx="3835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2500" y="4127500"/>
            <a:ext cx="3835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Noto Sans KR"/>
              </a:rPr>
              <a:t>→ 필요 전문가: </a:t>
            </a:r>
            <a:r>
              <a:rPr sz="900" b="1" i="0">
                <a:solidFill>
                  <a:srgbClr val="333333"/>
                </a:solidFill>
                <a:latin typeface="Noto Sans KR"/>
              </a:rPr>
              <a:t>RL·컴퓨터비전·HCI 연구자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165100"/>
            <a:ext cx="190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2026.07.08.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8500" y="139700"/>
            <a:ext cx="4191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555555"/>
                </a:solidFill>
                <a:latin typeface="Noto Sans KR"/>
              </a:rPr>
              <a:t>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317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Noto Sans K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42900"/>
            <a:ext cx="730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Noto Sans KR"/>
              </a:rPr>
              <a:t>산학협력 방안: 논문 기반 초학제 연구팀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533400"/>
            <a:ext cx="1841500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7900" y="546100"/>
            <a:ext cx="64897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" y="635000"/>
            <a:ext cx="8331200" cy="29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11111"/>
                </a:solidFill>
                <a:latin typeface="Noto Sans KR"/>
              </a:rPr>
              <a:t>"도시디자인 저널 Vol.7 No.1·2·3 발표 논문이 R&amp;D 기반. 각 기술 레이어를 선도하는 연구팀과 기술을 공동 개발하고, 실제 아파트 단지 실증으로 상용화까지 연결한다."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6400" y="965200"/>
          <a:ext cx="83312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2540000"/>
                <a:gridCol w="445770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협력 분야</a:t>
                      </a:r>
                    </a:p>
                  </a:txBody>
                  <a:tcPr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담당 연구실 / 기관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주요 역할 및 추진 내용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생성형AI · 인필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서울대 AI연구원 (AIIS)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컴퓨터비전·공간AI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AI 기반 가변형 평면 최적화 엔진 개발, 인필 시스템 AI 통합 PoC (Vol.7 No.2 기반)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AI 입면 · 에너지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KAIST 전기·전자공학부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강화학습·에너지시스템 연구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키네틱 차양·스마트 글레이징 RL 제어 알고리즘, BIPV-ESS 통합 최적화 (Vol.7 No.3 기반)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디지털 트윈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서울대 컴퓨터공학부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분산시스템·IoT 연구실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주거 디지털 트윈 플랫폼 구축, 실시간 공간·에너지 모니터링 시스템 (Vol.7 No.2·3)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주거 정책 · 제도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중앙대학교 건축학과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이석현 교수 (기존 공저자)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국내 건축법규 정합성 검토, 그린리모델링 정책 연계 연구 (Vol.7 No.1 교신저자)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현장 실증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한국건설기술연구원 (KICT)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스마트건설지원센터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파일럿 아파트 단지 PoC 설계·운영, 국토부 스마트홈 표준화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11111"/>
                          </a:solidFill>
                          <a:latin typeface="Noto Sans KR"/>
                        </a:rPr>
                        <a:t>에너지 성능 검증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Noto Sans KR"/>
                        </a:rPr>
                        <a:t>한국에너지기술연구원 (KIER)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888888"/>
                          </a:solidFill>
                          <a:latin typeface="Noto Sans KR"/>
                        </a:rPr>
                        <a:t>건물에너지연구부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Noto Sans KR"/>
                        </a:rPr>
                        <a:t>AI 입면 에너지 절감 효과 실증 측정, ESCo 사업 연계 모델 개발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165100"/>
            <a:ext cx="190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2026.07.08.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8500" y="139700"/>
            <a:ext cx="4191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555555"/>
                </a:solidFill>
                <a:latin typeface="Noto Sans KR"/>
              </a:rPr>
              <a:t>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317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Noto Sans K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42900"/>
            <a:ext cx="730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Noto Sans KR"/>
              </a:rPr>
              <a:t>수익 및 기대효과: 2,000만 가구 주거 혁신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533400"/>
            <a:ext cx="1841500" cy="25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7900" y="546100"/>
            <a:ext cx="64897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400" y="635000"/>
          <a:ext cx="8331200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1778000"/>
                <a:gridCol w="1778000"/>
                <a:gridCol w="204470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수익원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단가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초기 목표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</a:rPr>
                        <a:t>연 매출 잠재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B2D — 개발사 AI 설계 SaaS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세대당 라이선스 30만원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연 40만 세대 공급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Noto Sans KR"/>
                        </a:rPr>
                        <a:t>1,200억원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B2C — 입주민 공간·에너지 구독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월 3~5만원 / 세대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100만 세대 구독 목표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Noto Sans KR"/>
                        </a:rPr>
                        <a:t>360억~600억원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B2G — 노후 아파트 리모델링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AI 진단 + 인필·입면 패키지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연 10만 세대 (ESCo 연계)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Noto Sans KR"/>
                        </a:rPr>
                        <a:t>수천억원 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데이터·IP 라이선싱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알고리즘·학습데이터 라이선스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444444"/>
                          </a:solidFill>
                          <a:latin typeface="Noto Sans KR"/>
                        </a:rPr>
                        <a:t>글로벌 플랫폼 파트너십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Noto Sans KR"/>
                        </a:rPr>
                        <a:t>추가 수익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06400" y="2197100"/>
            <a:ext cx="8331200" cy="571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900" y="2273300"/>
            <a:ext cx="7950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Noto Sans KR"/>
              </a:rPr>
              <a:t>건축가가 논문으로 증명한 기술을 집에 사는 사람들의 일상에 연결한다. </a:t>
            </a:r>
            <a:r>
              <a:rPr sz="1300" b="0" i="0">
                <a:solidFill>
                  <a:srgbClr val="FFFFFF"/>
                </a:solidFill>
                <a:latin typeface="Noto Sans KR"/>
              </a:rPr>
              <a:t>WELO는 2,000만 가구의 삶을 최적화하는 첫 번째 AI 주거 플랫폼이다.</a:t>
            </a:r>
          </a:p>
          <a:p>
            <a:r>
              <a:rPr sz="1300" b="0" i="0">
                <a:solidFill>
                  <a:srgbClr val="FFFFFF"/>
                </a:solidFill>
                <a:latin typeface="Noto Sans KR"/>
              </a:rPr>
              <a:t>공간이 삶에 맞춰지는 집, 에너지를 스스로 관리하는 집 — 그것이 </a:t>
            </a:r>
            <a:r>
              <a:rPr sz="1300" b="1" i="0">
                <a:solidFill>
                  <a:srgbClr val="FFFFFF"/>
                </a:solidFill>
                <a:latin typeface="Noto Sans KR"/>
              </a:rPr>
              <a:t>WELO</a:t>
            </a:r>
            <a:r>
              <a:rPr sz="1300" b="0" i="0">
                <a:solidFill>
                  <a:srgbClr val="FFFFFF"/>
                </a:solidFill>
                <a:latin typeface="Noto Sans KR"/>
              </a:rPr>
              <a:t>가 만드는 대한민국 아파트의 다음 30년이다.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2857500"/>
            <a:ext cx="44450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Noto Sans KR"/>
              </a:rPr>
              <a:t>TAIC 원우들께 드리는 역할 제안 — 함께 만들 수 있는 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" y="3009900"/>
            <a:ext cx="16129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900" y="3086100"/>
            <a:ext cx="14859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Noto Sans KR"/>
              </a:rPr>
              <a:t>에너지공학·AI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900" y="3225800"/>
            <a:ext cx="1485900" cy="161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AI 강화학습 기반 입면·HVAC 통합 에너지 최적화 파트너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2800" y="3009900"/>
            <a:ext cx="16129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6300" y="3086100"/>
            <a:ext cx="14859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Noto Sans KR"/>
              </a:rPr>
              <a:t>반도체·IoT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6300" y="3225800"/>
            <a:ext cx="1485900" cy="161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스마트 글레이징·BIPV·센서 하드웨어·엣지 컴퓨팅 파트너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59200" y="3009900"/>
            <a:ext cx="16129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700" y="3086100"/>
            <a:ext cx="14859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Noto Sans KR"/>
              </a:rPr>
              <a:t>부동산·금융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700" y="3225800"/>
            <a:ext cx="1485900" cy="161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B2D 개발사 영업·ESCo 금융구조·구독 BM 설계 파트너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35600" y="3009900"/>
            <a:ext cx="16129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9100" y="3086100"/>
            <a:ext cx="14859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Noto Sans KR"/>
              </a:rPr>
              <a:t>공공·정책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9100" y="3225800"/>
            <a:ext cx="1485900" cy="161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그린리모델링 제도 연계·건축법규 개정·표준화 파트너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2000" y="3009900"/>
            <a:ext cx="161290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5500" y="3086100"/>
            <a:ext cx="14859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Noto Sans KR"/>
              </a:rPr>
              <a:t>의료·바이오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5500" y="3225800"/>
            <a:ext cx="1485900" cy="161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Noto Sans KR"/>
              </a:rPr>
              <a:t>고령자 맞춤 주거 최적화·돌봄 통합 스마트홈 파트너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